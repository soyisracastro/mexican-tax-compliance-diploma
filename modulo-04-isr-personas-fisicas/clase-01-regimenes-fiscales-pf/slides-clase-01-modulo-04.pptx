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1280160"/>
            <a:ext cx="64008" cy="256032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Clase 01 — Módulo 4: ISR para Personas Físicas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B5FFF"/>
                </a:solidFill>
                <a:latin typeface="Inter"/>
              </a:rPr>
              <a:t>Regímenes Fiscales de Personas Físicas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56616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249"/>
                </a:solidFill>
                <a:latin typeface="Inter"/>
              </a:rPr>
              <a:t>Duración: 3 horas 30 minutos efectivos (9:00 am – 1:00 pm, hora centro, con receso 10:45–11:15)</a:t>
            </a:r>
          </a:p>
          <a:p>
            <a:r>
              <a:rPr sz="1200" b="0">
                <a:solidFill>
                  <a:srgbClr val="555249"/>
                </a:solidFill>
                <a:latin typeface="Inter"/>
              </a:rPr>
              <a:t>Contenido activo: 210 minutos</a:t>
            </a:r>
          </a:p>
          <a:p>
            <a:r>
              <a:rPr sz="1200" b="0">
                <a:solidFill>
                  <a:srgbClr val="555249"/>
                </a:solidFill>
                <a:latin typeface="Inter"/>
              </a:rPr>
              <a:t>Actualización normativa: Enero 2026 (CFF, LISR, RMF 2026 publicada 28-dic-2025; Subsidio para el Empleo DOF 31-dic-2025)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ISR para Personas Físicas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Regímenes fiscales</a:t>
            </a:r>
            <a:r>
              <a:rPr sz="1500" b="0">
                <a:solidFill>
                  <a:srgbClr val="0A1628"/>
                </a:solidFill>
                <a:latin typeface="Inter"/>
              </a:rPr>
              <a:t> del Título IV de la LISR.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Módulo 4 · Clase 1 de 2 · Abril 2026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Instructor — </a:t>
            </a:r>
            <a:r>
              <a:rPr sz="1500" b="1">
                <a:solidFill>
                  <a:srgbClr val="0B5FFF"/>
                </a:solidFill>
                <a:latin typeface="Inter"/>
              </a:rPr>
              <a:t>LCP Israel Castro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Hoja de Ruta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0B5FFF"/>
                </a:solidFill>
                <a:latin typeface="Inter"/>
              </a:rPr>
              <a:t>7 regímenes</a:t>
            </a:r>
            <a:r>
              <a:rPr sz="1400" b="0">
                <a:solidFill>
                  <a:srgbClr val="0A1628"/>
                </a:solidFill>
                <a:latin typeface="Inter"/>
              </a:rPr>
              <a:t> en 210 minutos.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008"/>
                <a:gridCol w="2731008"/>
                <a:gridCol w="273100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Bloque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Tema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Min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Reglas generales ISR 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Sueldos y salarios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Actividad empresarial y profesional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Receso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RESICO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Arrendamiento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RIF (referencia)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Plataformas digitales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554480"/>
            <a:ext cx="81930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BLOQUE 1 — REGLAS GENERALES DEL ISR PARA PERSONAS FÍSICAS (35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Título IV de la LISR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Arts. </a:t>
            </a:r>
            <a:r>
              <a:rPr sz="1500" b="1">
                <a:solidFill>
                  <a:srgbClr val="0B5FFF"/>
                </a:solidFill>
                <a:latin typeface="Inter"/>
              </a:rPr>
              <a:t>90 al 152</a:t>
            </a:r>
            <a:r>
              <a:rPr sz="1500" b="0">
                <a:solidFill>
                  <a:srgbClr val="0A1628"/>
                </a:solidFill>
                <a:latin typeface="Inter"/>
              </a:rPr>
              <a:t> — 11 capítulos organizados por tipo de ingreso.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Disposiciones generales (90-93)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Un capítulo por cada tipo de ingreso de PF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Cap. XI — Declaración anual (150-152)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Cada cliente pertenece a </a:t>
            </a:r>
            <a:r>
              <a:rPr sz="1500" b="1">
                <a:solidFill>
                  <a:srgbClr val="0B5FFF"/>
                </a:solidFill>
                <a:latin typeface="Inter"/>
              </a:rPr>
              <a:t>uno o varios</a:t>
            </a:r>
            <a:r>
              <a:rPr sz="1500" b="0">
                <a:solidFill>
                  <a:srgbClr val="0A1628"/>
                </a:solidFill>
                <a:latin typeface="Inter"/>
              </a:rPr>
              <a:t> capítulos simultáneamente.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Sujetos y Flujo de Efectivo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Residente fiscal mexicano = tributa por </a:t>
            </a:r>
            <a:r>
              <a:rPr sz="1500" b="1">
                <a:solidFill>
                  <a:srgbClr val="0B5FFF"/>
                </a:solidFill>
                <a:latin typeface="Inter"/>
              </a:rPr>
              <a:t>renta mundial</a:t>
            </a:r>
            <a:r>
              <a:rPr sz="1500" b="0">
                <a:solidFill>
                  <a:srgbClr val="0A1628"/>
                </a:solidFill>
                <a:latin typeface="Inter"/>
              </a:rPr>
              <a:t> (Art. 9 CFF · Art. 90 LISR).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PF acumula cuando </a:t>
            </a:r>
            <a:r>
              <a:rPr sz="1500" b="1">
                <a:solidFill>
                  <a:srgbClr val="0B5FFF"/>
                </a:solidFill>
                <a:latin typeface="Inter"/>
              </a:rPr>
              <a:t>efectivamente percibe</a:t>
            </a:r>
            <a:r>
              <a:rPr sz="1500" b="0">
                <a:solidFill>
                  <a:srgbClr val="0A1628"/>
                </a:solidFill>
                <a:latin typeface="Inter"/>
              </a:rPr>
              <a:t> — no cuando devenga (Art. 102).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En efectivo, bienes, servicios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Crédito y cheque: </a:t>
            </a:r>
            <a:r>
              <a:rPr sz="1500" b="1">
                <a:solidFill>
                  <a:srgbClr val="0B5FFF"/>
                </a:solidFill>
                <a:latin typeface="Inter"/>
              </a:rPr>
              <a:t>al cobro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Cheque no cobrado en 4 meses → se acumula igual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Ingresos Exentos — Art. 93 LISR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Las más frecuentes en nómina — medidas en </a:t>
            </a:r>
            <a:r>
              <a:rPr sz="1400" b="1">
                <a:solidFill>
                  <a:srgbClr val="0B5FFF"/>
                </a:solidFill>
                <a:latin typeface="Inter"/>
              </a:rPr>
              <a:t>UMA 2026</a:t>
            </a:r>
            <a:r>
              <a:rPr sz="1400" b="0">
                <a:solidFill>
                  <a:srgbClr val="0A1628"/>
                </a:solidFill>
                <a:latin typeface="Inter"/>
              </a:rPr>
              <a:t> ($113.14 diaria).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2"/>
                <a:gridCol w="409651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Concepto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Límite exento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Aguinaldo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30 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Prima vacacional / PTU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15 UMA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Liquidación laboral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90 días UMA × año trabajado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Indemnización por riesgo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Herencias · venta de casa habitación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Sin límite / 700,000 UDIs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3566160"/>
            <a:ext cx="819302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Regla del </a:t>
            </a:r>
            <a:r>
              <a:rPr sz="1300" b="1">
                <a:solidFill>
                  <a:srgbClr val="0B5FFF"/>
                </a:solidFill>
                <a:latin typeface="Inter"/>
              </a:rPr>
              <a:t>$600 mil</a:t>
            </a:r>
            <a:r>
              <a:rPr sz="1300" b="0">
                <a:solidFill>
                  <a:srgbClr val="555249"/>
                </a:solidFill>
                <a:latin typeface="Inter"/>
              </a:rPr>
              <a:t>: préstamos, donativos y premios en conjunto → se declaran aunque sean exentos.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Discrepancia Fiscal — Art. 91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Se activa cuando las </a:t>
            </a:r>
            <a:r>
              <a:rPr sz="1500" b="1">
                <a:solidFill>
                  <a:srgbClr val="0B5FFF"/>
                </a:solidFill>
                <a:latin typeface="Inter"/>
              </a:rPr>
              <a:t>erogaciones</a:t>
            </a:r>
            <a:r>
              <a:rPr sz="1500" b="0">
                <a:solidFill>
                  <a:srgbClr val="0A1628"/>
                </a:solidFill>
                <a:latin typeface="Inter"/>
              </a:rPr>
              <a:t> del año superan los </a:t>
            </a:r>
            <a:r>
              <a:rPr sz="1500" b="1">
                <a:solidFill>
                  <a:srgbClr val="0B5FFF"/>
                </a:solidFill>
                <a:latin typeface="Inter"/>
              </a:rPr>
              <a:t>ingresos declarados</a:t>
            </a:r>
            <a:r>
              <a:rPr sz="1500" b="0">
                <a:solidFill>
                  <a:srgbClr val="0A1628"/>
                </a:solidFill>
                <a:latin typeface="Inter"/>
              </a:rPr>
              <a:t>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Erogaciones que cuentan: depósitos bancarios, tarjetas de crédito, inversiones, compras de bienes.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El plazo clave es </a:t>
            </a:r>
            <a:r>
              <a:rPr sz="1500" b="1">
                <a:solidFill>
                  <a:srgbClr val="0B5FFF"/>
                </a:solidFill>
                <a:latin typeface="Inter"/>
              </a:rPr>
              <a:t>20 días hábiles</a:t>
            </a:r>
            <a:r>
              <a:rPr sz="1500" b="0">
                <a:solidFill>
                  <a:srgbClr val="0A1628"/>
                </a:solidFill>
                <a:latin typeface="Inter"/>
              </a:rPr>
              <a:t> para aclarar con pruebas documentales — sin aclaración, se presume ingreso gravado con tarifa Art. 152.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Moraleja: </a:t>
            </a:r>
            <a:r>
              <a:rPr sz="1500" b="1">
                <a:solidFill>
                  <a:srgbClr val="0B5FFF"/>
                </a:solidFill>
                <a:latin typeface="Inter"/>
              </a:rPr>
              <a:t>lo exento también se declara</a:t>
            </a:r>
            <a:r>
              <a:rPr sz="1500" b="0">
                <a:solidFill>
                  <a:srgbClr val="0A1628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Tarifa Anual 2026 — Art. 152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DOF 28-dic-2025 · factor de actualización </a:t>
            </a:r>
            <a:r>
              <a:rPr sz="1400" b="1">
                <a:solidFill>
                  <a:srgbClr val="0B5FFF"/>
                </a:solidFill>
                <a:latin typeface="Inter"/>
              </a:rPr>
              <a:t>1.13213</a:t>
            </a:r>
            <a:r>
              <a:rPr sz="1400" b="0">
                <a:solidFill>
                  <a:srgbClr val="0A1628"/>
                </a:solidFill>
                <a:latin typeface="Inter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303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2048256"/>
                <a:gridCol w="2048256"/>
                <a:gridCol w="2048256"/>
              </a:tblGrid>
              <a:tr h="25260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LI ($)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LS ($)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Cuota fija ($)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% excedente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10,134.92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10,134.93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85,991.07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194.59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6.40%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85,991.08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151,120.33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5,049.50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151,120.34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175,595.60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12,132.58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16.00%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175,595.61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210,281.40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16,008.60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17.92%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210,281.41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423,595.89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22,224.52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21.36%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423,595.90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667,687.06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67,811.43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23.52%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667,687.07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2,009,098.96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125,215.26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30.00%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2,009,098.97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2,678,798.66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527,638.82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2,678,798.67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8,036,395.93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741,942.82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34.00%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8,036,395.94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En adelante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2,563,435.86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Deducciones Personales — Panorama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Art. 151 LISR</a:t>
            </a:r>
            <a:r>
              <a:rPr sz="1500" b="0">
                <a:solidFill>
                  <a:srgbClr val="0A1628"/>
                </a:solidFill>
                <a:latin typeface="Inter"/>
              </a:rPr>
              <a:t> — solo en declaración anual, no en provisionales.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Gastos médicos, dentales, psicología, hospitalarios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Funerarios · donativos · intereses hipotecarios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Aportaciones al retiro · seguros de gastos médicos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Tope = el </a:t>
            </a:r>
            <a:r>
              <a:rPr sz="1500" b="1">
                <a:solidFill>
                  <a:srgbClr val="0B5FFF"/>
                </a:solidFill>
                <a:latin typeface="Inter"/>
              </a:rPr>
              <a:t>menor</a:t>
            </a:r>
            <a:r>
              <a:rPr sz="1500" b="0">
                <a:solidFill>
                  <a:srgbClr val="0A1628"/>
                </a:solidFill>
                <a:latin typeface="Inter"/>
              </a:rPr>
              <a:t> entre: </a:t>
            </a:r>
            <a:r>
              <a:rPr sz="1500" b="1">
                <a:solidFill>
                  <a:srgbClr val="0B5FFF"/>
                </a:solidFill>
                <a:latin typeface="Inter"/>
              </a:rPr>
              <a:t>5 UMA</a:t>
            </a:r>
            <a:r>
              <a:rPr sz="1500" b="0">
                <a:solidFill>
                  <a:srgbClr val="0A1628"/>
                </a:solidFill>
                <a:latin typeface="Inter"/>
              </a:rPr>
              <a:t> ($206,559) · </a:t>
            </a:r>
            <a:r>
              <a:rPr sz="1500" b="1">
                <a:solidFill>
                  <a:srgbClr val="0B5FFF"/>
                </a:solidFill>
                <a:latin typeface="Inter"/>
              </a:rPr>
              <a:t>15%</a:t>
            </a:r>
            <a:r>
              <a:rPr sz="1500" b="0">
                <a:solidFill>
                  <a:srgbClr val="0A1628"/>
                </a:solidFill>
                <a:latin typeface="Inter"/>
              </a:rPr>
              <a:t> de ingresos totales.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Saltan el tope: incapacidad · retiro · colegiaturas.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554480"/>
            <a:ext cx="81930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BLOQUE 2 — RÉGIMEN DE SUELDOS Y SALARIOS (35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Régimen 605 — Sueldos y Asimilados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Cap. I, Arts. </a:t>
            </a:r>
            <a:r>
              <a:rPr sz="1500" b="1">
                <a:solidFill>
                  <a:srgbClr val="0B5FFF"/>
                </a:solidFill>
                <a:latin typeface="Inter"/>
              </a:rPr>
              <a:t>94-99 LISR</a:t>
            </a:r>
            <a:r>
              <a:rPr sz="1500" b="0">
                <a:solidFill>
                  <a:srgbClr val="0A1628"/>
                </a:solidFill>
                <a:latin typeface="Inter"/>
              </a:rPr>
              <a:t> · el régimen más grande del padrón (~60% de PF).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Gravados: sueldo, prestaciones, PTU, indemnizaciones por terminación.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Asimilados a salarios</a:t>
            </a:r>
            <a:r>
              <a:rPr sz="1500" b="0">
                <a:solidFill>
                  <a:srgbClr val="0A1628"/>
                </a:solidFill>
                <a:latin typeface="Inter"/>
              </a:rPr>
              <a:t> (Art. 94) — no hay relación laboral, pero se tratan igual: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Consejeros, administradores, comisarios (F. IV)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Honorarios preponderantes a un solo cliente &gt;50% (F. V)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Actividad empresarial por opción (F. VII)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Asimilados IV, V, VI </a:t>
            </a:r>
            <a:r>
              <a:rPr sz="1500" b="1">
                <a:solidFill>
                  <a:srgbClr val="0B5FFF"/>
                </a:solidFill>
                <a:latin typeface="Inter"/>
              </a:rPr>
              <a:t>&gt; $75 MDP anuales</a:t>
            </a:r>
            <a:r>
              <a:rPr sz="1500" b="0">
                <a:solidFill>
                  <a:srgbClr val="0A1628"/>
                </a:solidFill>
                <a:latin typeface="Inter"/>
              </a:rPr>
              <a:t> → pasan a actividad empresarial.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Tarifa Mensual 2026 — Art. 96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Anexo 8 RMF 2026. Misma mecánica que la anual, dividida entre 12.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303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2048256"/>
                <a:gridCol w="2048256"/>
                <a:gridCol w="2048256"/>
              </a:tblGrid>
              <a:tr h="25260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LI ($)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LS ($)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Cuota fija ($)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%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844.59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844.60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7,165.92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16.22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6.40%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7,165.93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12,593.36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420.79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12,593.37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14,632.96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1,011.05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16.00%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14,632.97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17,523.45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1,337.38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17.92%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17,523.46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35,299.65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1,852.05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21.36%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35,299.66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55,640.58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5,651.62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23.52%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55,640.59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167,424.91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10,434.61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30.00%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167,424.92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223,233.22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43,969.91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223,233.23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669,699.66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61,828.55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34.00%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2526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669,699.67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En adelante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213,619.92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Subsidio para el Empleo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DOF 31-dic-2025 · cuota máxima </a:t>
            </a:r>
            <a:r>
              <a:rPr sz="1500" b="1">
                <a:solidFill>
                  <a:srgbClr val="0B5FFF"/>
                </a:solidFill>
                <a:latin typeface="Inter"/>
              </a:rPr>
              <a:t>$536.21</a:t>
            </a:r>
            <a:r>
              <a:rPr sz="1500" b="0">
                <a:solidFill>
                  <a:srgbClr val="0A1628"/>
                </a:solidFill>
                <a:latin typeface="Inter"/>
              </a:rPr>
              <a:t> mensual (antes $475).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Si ISR &lt; subsidio → la diferencia se </a:t>
            </a:r>
            <a:r>
              <a:rPr sz="1500" b="1">
                <a:solidFill>
                  <a:srgbClr val="0B5FFF"/>
                </a:solidFill>
                <a:latin typeface="Inter"/>
              </a:rPr>
              <a:t>entrega en efectivo</a:t>
            </a:r>
            <a:r>
              <a:rPr sz="1500" b="0">
                <a:solidFill>
                  <a:srgbClr val="0A1628"/>
                </a:solidFill>
                <a:latin typeface="Inter"/>
              </a:rPr>
              <a:t> al trabajador.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Salario mínimo → cero retención</a:t>
            </a:r>
            <a:r>
              <a:rPr sz="1500" b="0">
                <a:solidFill>
                  <a:srgbClr val="0A1628"/>
                </a:solidFill>
                <a:latin typeface="Inter"/>
              </a:rPr>
              <a:t> (Art. 96 LISR).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Zona general: </a:t>
            </a:r>
            <a:r>
              <a:rPr sz="1500" b="1">
                <a:solidFill>
                  <a:srgbClr val="0B5FFF"/>
                </a:solidFill>
                <a:latin typeface="Inter"/>
              </a:rPr>
              <a:t>$315.04</a:t>
            </a:r>
            <a:r>
              <a:rPr sz="1500" b="0">
                <a:solidFill>
                  <a:srgbClr val="0A1628"/>
                </a:solidFill>
                <a:latin typeface="Inter"/>
              </a:rPr>
              <a:t> diario · $9,582.47 mensual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Zona Libre Frontera Norte: </a:t>
            </a:r>
            <a:r>
              <a:rPr sz="1500" b="1">
                <a:solidFill>
                  <a:srgbClr val="0B5FFF"/>
                </a:solidFill>
                <a:latin typeface="Inter"/>
              </a:rPr>
              <a:t>$440.87</a:t>
            </a:r>
            <a:r>
              <a:rPr sz="1500" b="0">
                <a:solidFill>
                  <a:srgbClr val="0A1628"/>
                </a:solidFill>
                <a:latin typeface="Inter"/>
              </a:rPr>
              <a:t> diario · $13,409.80 mensual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Cuidado: "únicamente salario mínimo". Con $1 extra ya aplica mecánica regular.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Declaración Anual del Asalariado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El </a:t>
            </a:r>
            <a:r>
              <a:rPr sz="1500" b="1">
                <a:solidFill>
                  <a:srgbClr val="0B5FFF"/>
                </a:solidFill>
                <a:latin typeface="Inter"/>
              </a:rPr>
              <a:t>patrón</a:t>
            </a:r>
            <a:r>
              <a:rPr sz="1500" b="0">
                <a:solidFill>
                  <a:srgbClr val="0A1628"/>
                </a:solidFill>
                <a:latin typeface="Inter"/>
              </a:rPr>
              <a:t> calcula y reporta a más tardar en </a:t>
            </a:r>
            <a:r>
              <a:rPr sz="1500" b="1">
                <a:solidFill>
                  <a:srgbClr val="0B5FFF"/>
                </a:solidFill>
                <a:latin typeface="Inter"/>
              </a:rPr>
              <a:t>febrero</a:t>
            </a:r>
            <a:r>
              <a:rPr sz="1500" b="0">
                <a:solidFill>
                  <a:srgbClr val="0A1628"/>
                </a:solidFill>
                <a:latin typeface="Inter"/>
              </a:rPr>
              <a:t> (Art. 97).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El </a:t>
            </a:r>
            <a:r>
              <a:rPr sz="1500" b="1">
                <a:solidFill>
                  <a:srgbClr val="0B5FFF"/>
                </a:solidFill>
                <a:latin typeface="Inter"/>
              </a:rPr>
              <a:t>trabajador</a:t>
            </a:r>
            <a:r>
              <a:rPr sz="1500" b="0">
                <a:solidFill>
                  <a:srgbClr val="0A1628"/>
                </a:solidFill>
                <a:latin typeface="Inter"/>
              </a:rPr>
              <a:t> está obligado a declarar en </a:t>
            </a:r>
            <a:r>
              <a:rPr sz="1500" b="1">
                <a:solidFill>
                  <a:srgbClr val="0B5FFF"/>
                </a:solidFill>
                <a:latin typeface="Inter"/>
              </a:rPr>
              <a:t>abril</a:t>
            </a:r>
            <a:r>
              <a:rPr sz="1500" b="0">
                <a:solidFill>
                  <a:srgbClr val="0A1628"/>
                </a:solidFill>
                <a:latin typeface="Inter"/>
              </a:rPr>
              <a:t> (Art. 98) si: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Ingresos anuales </a:t>
            </a:r>
            <a:r>
              <a:rPr sz="1500" b="1">
                <a:solidFill>
                  <a:srgbClr val="0B5FFF"/>
                </a:solidFill>
                <a:latin typeface="Inter"/>
              </a:rPr>
              <a:t>&gt; $400,000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Dos o más patrones</a:t>
            </a:r>
            <a:r>
              <a:rPr sz="1500" b="0">
                <a:solidFill>
                  <a:srgbClr val="0A1628"/>
                </a:solidFill>
                <a:latin typeface="Inter"/>
              </a:rPr>
              <a:t> simultáneos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Dejó de prestar servicios antes del 31 de diciembre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Obtuvo ingresos de fuente extranjera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Obtuvo otros ingresos acumulables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Dos patrones casi siempre → </a:t>
            </a:r>
            <a:r>
              <a:rPr sz="1500" b="1">
                <a:solidFill>
                  <a:srgbClr val="0B5FFF"/>
                </a:solidFill>
                <a:latin typeface="Inter"/>
              </a:rPr>
              <a:t>ISR a cargo</a:t>
            </a:r>
            <a:r>
              <a:rPr sz="1500" b="0">
                <a:solidFill>
                  <a:srgbClr val="0A1628"/>
                </a:solidFill>
                <a:latin typeface="Inter"/>
              </a:rPr>
              <a:t> en abril.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Ejemplo — Sueldo $25,000 en Enero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097280"/>
          <a:ext cx="819302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2"/>
                <a:gridCol w="409651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Concepto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Importe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Ingreso gravable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$25,000.00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(−) Límite inferior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$17,523.46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(=) Excedente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$7,476.54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(×) Tasa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21.36%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(=) Impuesto marginal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$1,596.99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(+) Cuota fija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$1,852.05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(=) ISR del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$3,449.04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(−) Subsidio al empleo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$0.00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(=) ISR a retener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$3,449.04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" y="4297680"/>
            <a:ext cx="819302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Tasa marginal </a:t>
            </a:r>
            <a:r>
              <a:rPr sz="1300" b="1">
                <a:solidFill>
                  <a:srgbClr val="0B5FFF"/>
                </a:solidFill>
                <a:latin typeface="Inter"/>
              </a:rPr>
              <a:t>21.36%</a:t>
            </a:r>
            <a:r>
              <a:rPr sz="1300" b="0">
                <a:solidFill>
                  <a:srgbClr val="555249"/>
                </a:solidFill>
                <a:latin typeface="Inter"/>
              </a:rPr>
              <a:t> · carga efectiva </a:t>
            </a:r>
            <a:r>
              <a:rPr sz="1300" b="1">
                <a:solidFill>
                  <a:srgbClr val="0B5FFF"/>
                </a:solidFill>
                <a:latin typeface="Inter"/>
              </a:rPr>
              <a:t>13.80%</a:t>
            </a:r>
            <a:r>
              <a:rPr sz="1300" b="0">
                <a:solidFill>
                  <a:srgbClr val="55524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554480"/>
            <a:ext cx="81930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BLOQUE 3 — ACTIVIDAD EMPRESARIAL Y PROFESIONAL (35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Régimen 612 — Actividad Empresarial y Profesional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Cap. II Sec. I, Arts. </a:t>
            </a:r>
            <a:r>
              <a:rPr sz="1500" b="1">
                <a:solidFill>
                  <a:srgbClr val="0B5FFF"/>
                </a:solidFill>
                <a:latin typeface="Inter"/>
              </a:rPr>
              <a:t>100-110 LISR</a:t>
            </a:r>
            <a:r>
              <a:rPr sz="1500" b="0">
                <a:solidFill>
                  <a:srgbClr val="0A1628"/>
                </a:solidFill>
                <a:latin typeface="Inter"/>
              </a:rPr>
              <a:t> · </a:t>
            </a:r>
            <a:r>
              <a:rPr sz="1500" b="1">
                <a:solidFill>
                  <a:srgbClr val="0B5FFF"/>
                </a:solidFill>
                <a:latin typeface="Inter"/>
              </a:rPr>
              <a:t>sin tope de ingresos</a:t>
            </a:r>
            <a:r>
              <a:rPr sz="1500" b="0">
                <a:solidFill>
                  <a:srgbClr val="0A1628"/>
                </a:solidFill>
                <a:latin typeface="Inter"/>
              </a:rPr>
              <a:t>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Dos categorías bajo el mismo régimen: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Empresariales</a:t>
            </a:r>
            <a:r>
              <a:rPr sz="1500" b="0">
                <a:solidFill>
                  <a:srgbClr val="0A1628"/>
                </a:solidFill>
                <a:latin typeface="Inter"/>
              </a:rPr>
              <a:t> — comercio, industria, transporte, agricultura (Art. 16 CFF)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Profesionales</a:t>
            </a:r>
            <a:r>
              <a:rPr sz="1500" b="0">
                <a:solidFill>
                  <a:srgbClr val="0A1628"/>
                </a:solidFill>
                <a:latin typeface="Inter"/>
              </a:rPr>
              <a:t> — abogados, médicos, contadores, consultores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Flujo de efectivo: se acumula al cobro · anticipos al recibirse · cheques a 4 meses.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Deducciones Autorizadas — Art. 103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Tres requisitos </a:t>
            </a:r>
            <a:r>
              <a:rPr sz="1500" b="1">
                <a:solidFill>
                  <a:srgbClr val="0B5FFF"/>
                </a:solidFill>
                <a:latin typeface="Inter"/>
              </a:rPr>
              <a:t>no negociables</a:t>
            </a:r>
            <a:r>
              <a:rPr sz="1500" b="0">
                <a:solidFill>
                  <a:srgbClr val="0A1628"/>
                </a:solidFill>
                <a:latin typeface="Inter"/>
              </a:rPr>
              <a:t> (Arts. 104-105):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Estrictamente indispensables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CFDI con RFC correcto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Pagos </a:t>
            </a:r>
            <a:r>
              <a:rPr sz="1500" b="1">
                <a:solidFill>
                  <a:srgbClr val="0B5FFF"/>
                </a:solidFill>
                <a:latin typeface="Inter"/>
              </a:rPr>
              <a:t>&gt; $2,000</a:t>
            </a:r>
            <a:r>
              <a:rPr sz="1500" b="0">
                <a:solidFill>
                  <a:srgbClr val="0A1628"/>
                </a:solidFill>
                <a:latin typeface="Inter"/>
              </a:rPr>
              <a:t> vía transferencia, tarjeta o cheque nominativo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Se deduce cuando se </a:t>
            </a:r>
            <a:r>
              <a:rPr sz="1500" b="1">
                <a:solidFill>
                  <a:srgbClr val="0B5FFF"/>
                </a:solidFill>
                <a:latin typeface="Inter"/>
              </a:rPr>
              <a:t>paga efectivamente</a:t>
            </a:r>
            <a:r>
              <a:rPr sz="1500" b="0">
                <a:solidFill>
                  <a:srgbClr val="0A1628"/>
                </a:solidFill>
                <a:latin typeface="Inter"/>
              </a:rPr>
              <a:t> — no cuando se factura.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Depreciación Título II: construcciones </a:t>
            </a:r>
            <a:r>
              <a:rPr sz="1500" b="1">
                <a:solidFill>
                  <a:srgbClr val="0B5FFF"/>
                </a:solidFill>
                <a:latin typeface="Inter"/>
              </a:rPr>
              <a:t>5%</a:t>
            </a:r>
            <a:r>
              <a:rPr sz="1500" b="0">
                <a:solidFill>
                  <a:srgbClr val="0A1628"/>
                </a:solidFill>
                <a:latin typeface="Inter"/>
              </a:rPr>
              <a:t> · oficina </a:t>
            </a:r>
            <a:r>
              <a:rPr sz="1500" b="1">
                <a:solidFill>
                  <a:srgbClr val="0B5FFF"/>
                </a:solidFill>
                <a:latin typeface="Inter"/>
              </a:rPr>
              <a:t>10%</a:t>
            </a:r>
            <a:r>
              <a:rPr sz="1500" b="0">
                <a:solidFill>
                  <a:srgbClr val="0A1628"/>
                </a:solidFill>
                <a:latin typeface="Inter"/>
              </a:rPr>
              <a:t> · autos </a:t>
            </a:r>
            <a:r>
              <a:rPr sz="1500" b="1">
                <a:solidFill>
                  <a:srgbClr val="0B5FFF"/>
                </a:solidFill>
                <a:latin typeface="Inter"/>
              </a:rPr>
              <a:t>25%</a:t>
            </a:r>
            <a:r>
              <a:rPr sz="1500" b="0">
                <a:solidFill>
                  <a:srgbClr val="0A1628"/>
                </a:solidFill>
                <a:latin typeface="Inter"/>
              </a:rPr>
              <a:t> (tope $175K) · computadoras </a:t>
            </a:r>
            <a:r>
              <a:rPr sz="1500" b="1">
                <a:solidFill>
                  <a:srgbClr val="0B5FFF"/>
                </a:solidFill>
                <a:latin typeface="Inter"/>
              </a:rPr>
              <a:t>30%</a:t>
            </a:r>
            <a:r>
              <a:rPr sz="1500" b="0">
                <a:solidFill>
                  <a:srgbClr val="0A1628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Pagos Provisionales y Retenciones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Art. 106 · pagos </a:t>
            </a:r>
            <a:r>
              <a:rPr sz="1500" b="1">
                <a:solidFill>
                  <a:srgbClr val="0B5FFF"/>
                </a:solidFill>
                <a:latin typeface="Inter"/>
              </a:rPr>
              <a:t>acumulativos</a:t>
            </a:r>
            <a:r>
              <a:rPr sz="1500" b="0">
                <a:solidFill>
                  <a:srgbClr val="0A1628"/>
                </a:solidFill>
                <a:latin typeface="Inter"/>
              </a:rPr>
              <a:t> cada mes — se recalcula desde enero.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Gastos de un mes "arrastran" beneficios a los meses siguientes.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Retención de PM a profesionista 612: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ISR </a:t>
            </a:r>
            <a:r>
              <a:rPr sz="1500" b="1">
                <a:solidFill>
                  <a:srgbClr val="0B5FFF"/>
                </a:solidFill>
                <a:latin typeface="Inter"/>
              </a:rPr>
              <a:t>10%</a:t>
            </a:r>
            <a:r>
              <a:rPr sz="1500" b="0">
                <a:solidFill>
                  <a:srgbClr val="0A1628"/>
                </a:solidFill>
                <a:latin typeface="Inter"/>
              </a:rPr>
              <a:t> sobre ingresos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IVA </a:t>
            </a:r>
            <a:r>
              <a:rPr sz="1500" b="1">
                <a:solidFill>
                  <a:srgbClr val="0B5FFF"/>
                </a:solidFill>
                <a:latin typeface="Inter"/>
              </a:rPr>
              <a:t>2/3 partes</a:t>
            </a:r>
            <a:r>
              <a:rPr sz="1500" b="0">
                <a:solidFill>
                  <a:srgbClr val="0A1628"/>
                </a:solidFill>
                <a:latin typeface="Inter"/>
              </a:rPr>
              <a:t> (10.6667%)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Entero el </a:t>
            </a:r>
            <a:r>
              <a:rPr sz="1500" b="1">
                <a:solidFill>
                  <a:srgbClr val="0B5FFF"/>
                </a:solidFill>
                <a:latin typeface="Inter"/>
              </a:rPr>
              <a:t>día 17</a:t>
            </a:r>
            <a:r>
              <a:rPr sz="1500" b="0">
                <a:solidFill>
                  <a:srgbClr val="0A1628"/>
                </a:solidFill>
                <a:latin typeface="Inter"/>
              </a:rPr>
              <a:t> del mes siguiente.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Ejemplo — Abogado Independiente, Marzo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Factura a personas morales · ya le retuvieron 10% todo el trimestre.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2"/>
                <a:gridCol w="409651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Concepto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Importe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Ingresos acumulados ene-mar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(−) Deducciones acumuladas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$45,000.00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(=) Base gravable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$135,000.00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ISR causado (tarifa mensual × 3)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$18,934.52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(−) Retenciones acumuladas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(=) Pago provisional de marzo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$934.52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3877056"/>
            <a:ext cx="8193024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La retención PM casi cubre el ISR → </a:t>
            </a:r>
            <a:r>
              <a:rPr sz="1300" b="1">
                <a:solidFill>
                  <a:srgbClr val="0B5FFF"/>
                </a:solidFill>
                <a:latin typeface="Inter"/>
              </a:rPr>
              <a:t>saldo a favor</a:t>
            </a:r>
            <a:r>
              <a:rPr sz="1300" b="0">
                <a:solidFill>
                  <a:srgbClr val="555249"/>
                </a:solidFill>
                <a:latin typeface="Inter"/>
              </a:rPr>
              <a:t> al llegar a abril.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Receso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30 minutos</a:t>
            </a:r>
            <a:r>
              <a:rPr sz="1500" b="0">
                <a:solidFill>
                  <a:srgbClr val="0A1628"/>
                </a:solidFill>
                <a:latin typeface="Inter"/>
              </a:rPr>
              <a:t> · 10:45 – 11:15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Al regresar: </a:t>
            </a:r>
            <a:r>
              <a:rPr sz="1500" b="1">
                <a:solidFill>
                  <a:srgbClr val="0B5FFF"/>
                </a:solidFill>
                <a:latin typeface="Inter"/>
              </a:rPr>
              <a:t>RESICO</a:t>
            </a:r>
            <a:r>
              <a:rPr sz="1500" b="0">
                <a:solidFill>
                  <a:srgbClr val="0A1628"/>
                </a:solidFill>
                <a:latin typeface="Inter"/>
              </a:rPr>
              <a:t>, arrendamiento, RIF y plataformas digitales.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Gancho para pensar: el profesionista que acabamos de ver paga ~14% en régimen 612. En RESICO pagaría </a:t>
            </a:r>
            <a:r>
              <a:rPr sz="1500" b="1">
                <a:solidFill>
                  <a:srgbClr val="0B5FFF"/>
                </a:solidFill>
                <a:latin typeface="Inter"/>
              </a:rPr>
              <a:t>1-2%</a:t>
            </a:r>
            <a:r>
              <a:rPr sz="1500" b="0">
                <a:solidFill>
                  <a:srgbClr val="0A1628"/>
                </a:solidFill>
                <a:latin typeface="Inter"/>
              </a:rPr>
              <a:t> por los mismos ingresos. ¿Por qué no todos migran?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554480"/>
            <a:ext cx="81930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BLOQUE 4 — RÉGIMEN SIMPLIFICADO DE CONFIANZA (RESICO) (40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Régimen 626 — RESICO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Arts. </a:t>
            </a:r>
            <a:r>
              <a:rPr sz="1500" b="1">
                <a:solidFill>
                  <a:srgbClr val="0B5FFF"/>
                </a:solidFill>
                <a:latin typeface="Inter"/>
              </a:rPr>
              <a:t>113-E a 113-J LISR</a:t>
            </a:r>
            <a:r>
              <a:rPr sz="1500" b="0">
                <a:solidFill>
                  <a:srgbClr val="0A1628"/>
                </a:solidFill>
                <a:latin typeface="Inter"/>
              </a:rPr>
              <a:t> · opcional · desde 1-ene-2022.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Propuesta de valor: </a:t>
            </a:r>
            <a:r>
              <a:rPr sz="1500" b="1">
                <a:solidFill>
                  <a:srgbClr val="0B5FFF"/>
                </a:solidFill>
                <a:latin typeface="Inter"/>
              </a:rPr>
              <a:t>simplicidad radical</a:t>
            </a:r>
            <a:r>
              <a:rPr sz="1500" b="0">
                <a:solidFill>
                  <a:srgbClr val="0A1628"/>
                </a:solidFill>
                <a:latin typeface="Inter"/>
              </a:rPr>
              <a:t> a cambio de tasa fija baja.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Límite: </a:t>
            </a:r>
            <a:r>
              <a:rPr sz="1500" b="1">
                <a:solidFill>
                  <a:srgbClr val="0B5FFF"/>
                </a:solidFill>
                <a:latin typeface="Inter"/>
              </a:rPr>
              <a:t>$3.5 MDP</a:t>
            </a:r>
            <a:r>
              <a:rPr sz="1500" b="0">
                <a:solidFill>
                  <a:srgbClr val="0A1628"/>
                </a:solidFill>
                <a:latin typeface="Inter"/>
              </a:rPr>
              <a:t> anuales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Tasa: </a:t>
            </a:r>
            <a:r>
              <a:rPr sz="1500" b="1">
                <a:solidFill>
                  <a:srgbClr val="0B5FFF"/>
                </a:solidFill>
                <a:latin typeface="Inter"/>
              </a:rPr>
              <a:t>1% – 2.5%</a:t>
            </a:r>
            <a:r>
              <a:rPr sz="1500" b="0">
                <a:solidFill>
                  <a:srgbClr val="0A1628"/>
                </a:solidFill>
                <a:latin typeface="Inter"/>
              </a:rPr>
              <a:t> mensual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Sin deducciones, sin DIOT, sin contabilidad electrónica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Sin declaración anual desde 2026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~2 millones de contribuyentes · el régimen que más ha crecido.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RESICO — Quién Puede Entrar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Tres tipos de ingresos bajo el mismo RESICO: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Actividades </a:t>
            </a:r>
            <a:r>
              <a:rPr sz="1500" b="1">
                <a:solidFill>
                  <a:srgbClr val="0B5FFF"/>
                </a:solidFill>
                <a:latin typeface="Inter"/>
              </a:rPr>
              <a:t>empresariales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Servicios </a:t>
            </a:r>
            <a:r>
              <a:rPr sz="1500" b="1">
                <a:solidFill>
                  <a:srgbClr val="0B5FFF"/>
                </a:solidFill>
                <a:latin typeface="Inter"/>
              </a:rPr>
              <a:t>profesionales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Arrendamiento</a:t>
            </a:r>
            <a:r>
              <a:rPr sz="1500" b="0">
                <a:solidFill>
                  <a:srgbClr val="0A1628"/>
                </a:solidFill>
                <a:latin typeface="Inter"/>
              </a:rPr>
              <a:t> de inmuebles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Requisitos: RFC activo · </a:t>
            </a:r>
            <a:r>
              <a:rPr sz="1500" b="1">
                <a:solidFill>
                  <a:srgbClr val="0B5FFF"/>
                </a:solidFill>
                <a:latin typeface="Inter"/>
              </a:rPr>
              <a:t>e.firma</a:t>
            </a:r>
            <a:r>
              <a:rPr sz="1500" b="0">
                <a:solidFill>
                  <a:srgbClr val="0A1628"/>
                </a:solidFill>
                <a:latin typeface="Inter"/>
              </a:rPr>
              <a:t> vigente · buzón habilitado · opinión de cumplimiento positiva · no EFOS.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Puede combinarse con </a:t>
            </a:r>
            <a:r>
              <a:rPr sz="1500" b="1">
                <a:solidFill>
                  <a:srgbClr val="0B5FFF"/>
                </a:solidFill>
                <a:latin typeface="Inter"/>
              </a:rPr>
              <a:t>sueldos</a:t>
            </a:r>
            <a:r>
              <a:rPr sz="1500" b="0">
                <a:solidFill>
                  <a:srgbClr val="0A1628"/>
                </a:solidFill>
                <a:latin typeface="Inter"/>
              </a:rPr>
              <a:t> e </a:t>
            </a:r>
            <a:r>
              <a:rPr sz="1500" b="1">
                <a:solidFill>
                  <a:srgbClr val="0B5FFF"/>
                </a:solidFill>
                <a:latin typeface="Inter"/>
              </a:rPr>
              <a:t>intereses</a:t>
            </a:r>
            <a:r>
              <a:rPr sz="1500" b="0">
                <a:solidFill>
                  <a:srgbClr val="0A1628"/>
                </a:solidFill>
                <a:latin typeface="Inter"/>
              </a:rPr>
              <a:t> — si la suma total ≤ $3.5 MDP.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RESICO — Exclusiones y Salida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No puede entrar</a:t>
            </a:r>
            <a:r>
              <a:rPr sz="1500" b="0">
                <a:solidFill>
                  <a:srgbClr val="0A1628"/>
                </a:solidFill>
                <a:latin typeface="Inter"/>
              </a:rPr>
              <a:t> (Art. 113-E):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Socios o accionistas de PM · partes relacionadas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Residentes en el extranjero con EP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Ingresos de regímenes fiscales preferentes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Espectáculos públicos, franquicias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Causales de salida</a:t>
            </a:r>
            <a:r>
              <a:rPr sz="1500" b="0">
                <a:solidFill>
                  <a:srgbClr val="0A1628"/>
                </a:solidFill>
                <a:latin typeface="Inter"/>
              </a:rPr>
              <a:t>: exceder $3.5 MDP · omitir </a:t>
            </a:r>
            <a:r>
              <a:rPr sz="1500" b="1">
                <a:solidFill>
                  <a:srgbClr val="0B5FFF"/>
                </a:solidFill>
                <a:latin typeface="Inter"/>
              </a:rPr>
              <a:t>3+ declaraciones mensuales</a:t>
            </a:r>
            <a:r>
              <a:rPr sz="1500" b="0">
                <a:solidFill>
                  <a:srgbClr val="0A1628"/>
                </a:solidFill>
                <a:latin typeface="Inter"/>
              </a:rPr>
              <a:t> · incumplir Art. 113-G.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&gt; Regla de oro: quien sale por </a:t>
            </a:r>
            <a:r>
              <a:rPr sz="1500" b="1">
                <a:solidFill>
                  <a:srgbClr val="0B5FFF"/>
                </a:solidFill>
                <a:latin typeface="Inter"/>
              </a:rPr>
              <a:t>incumplimiento</a:t>
            </a:r>
            <a:r>
              <a:rPr sz="1500" b="0">
                <a:solidFill>
                  <a:srgbClr val="0A1628"/>
                </a:solidFill>
                <a:latin typeface="Inter"/>
              </a:rPr>
              <a:t> NO vuelve a RESICO. Quien sale por rebasar el límite sí puede volver.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Tasas RESICO 2026 — Art. 113-E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097280"/>
          <a:ext cx="8193024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2"/>
                <a:gridCol w="409651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Ingresos mensuales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Tasa ISR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Hasta $25,000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$25,000 – $50,000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1.10%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$50,000 – $83,333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$83,333 – $208,333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2.00%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$208,333 – $291,666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" y="3054096"/>
            <a:ext cx="8193024" cy="16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Ingresos cobrados del mes </a:t>
            </a:r>
            <a:r>
              <a:rPr sz="1300" b="1">
                <a:solidFill>
                  <a:srgbClr val="0B5FFF"/>
                </a:solidFill>
                <a:latin typeface="Inter"/>
              </a:rPr>
              <a:t>(sin IVA)</a:t>
            </a:r>
            <a:r>
              <a:rPr sz="1300" b="0">
                <a:solidFill>
                  <a:srgbClr val="555249"/>
                </a:solidFill>
                <a:latin typeface="Inter"/>
              </a:rPr>
              <a:t> × tasa = ISR definitivo.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Los gastos </a:t>
            </a:r>
            <a:r>
              <a:rPr sz="1300" b="1">
                <a:solidFill>
                  <a:srgbClr val="0B5FFF"/>
                </a:solidFill>
                <a:latin typeface="Inter"/>
              </a:rPr>
              <a:t>no juegan</a:t>
            </a:r>
            <a:r>
              <a:rPr sz="1300" b="0">
                <a:solidFill>
                  <a:srgbClr val="555249"/>
                </a:solidFill>
                <a:latin typeface="Inter"/>
              </a:rPr>
              <a:t> — régimen ideal para consultores con poca operación.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Retenciones y Obligaciones RESICO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PM retiene al RESICO: </a:t>
            </a:r>
            <a:r>
              <a:rPr sz="1500" b="1">
                <a:solidFill>
                  <a:srgbClr val="0B5FFF"/>
                </a:solidFill>
                <a:latin typeface="Inter"/>
              </a:rPr>
              <a:t>1.25%</a:t>
            </a:r>
            <a:r>
              <a:rPr sz="1500" b="0">
                <a:solidFill>
                  <a:srgbClr val="0A1628"/>
                </a:solidFill>
                <a:latin typeface="Inter"/>
              </a:rPr>
              <a:t> ISR + </a:t>
            </a:r>
            <a:r>
              <a:rPr sz="1500" b="1">
                <a:solidFill>
                  <a:srgbClr val="0B5FFF"/>
                </a:solidFill>
                <a:latin typeface="Inter"/>
              </a:rPr>
              <a:t>2/3 partes</a:t>
            </a:r>
            <a:r>
              <a:rPr sz="1500" b="0">
                <a:solidFill>
                  <a:srgbClr val="0A1628"/>
                </a:solidFill>
                <a:latin typeface="Inter"/>
              </a:rPr>
              <a:t> IVA (Art. 113-J).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La retención se </a:t>
            </a:r>
            <a:r>
              <a:rPr sz="1500" b="1">
                <a:solidFill>
                  <a:srgbClr val="0B5FFF"/>
                </a:solidFill>
                <a:latin typeface="Inter"/>
              </a:rPr>
              <a:t>acredita</a:t>
            </a:r>
            <a:r>
              <a:rPr sz="1500" b="0">
                <a:solidFill>
                  <a:srgbClr val="0A1628"/>
                </a:solidFill>
                <a:latin typeface="Inter"/>
              </a:rPr>
              <a:t> contra el pago mensual.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Obligaciones en 2026 (Art. 113-G):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Inscripción con clave </a:t>
            </a:r>
            <a:r>
              <a:rPr sz="1500" b="1">
                <a:solidFill>
                  <a:srgbClr val="0B5FFF"/>
                </a:solidFill>
                <a:latin typeface="Inter"/>
              </a:rPr>
              <a:t>626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e.firma + buzón tributario activos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Emitir </a:t>
            </a:r>
            <a:r>
              <a:rPr sz="1500" b="1">
                <a:solidFill>
                  <a:srgbClr val="0B5FFF"/>
                </a:solidFill>
                <a:latin typeface="Inter"/>
              </a:rPr>
              <a:t>CFDI</a:t>
            </a:r>
            <a:r>
              <a:rPr sz="1500" b="0">
                <a:solidFill>
                  <a:srgbClr val="0A1628"/>
                </a:solidFill>
                <a:latin typeface="Inter"/>
              </a:rPr>
              <a:t> por todos los ingresos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Pago mensual día </a:t>
            </a:r>
            <a:r>
              <a:rPr sz="1500" b="1">
                <a:solidFill>
                  <a:srgbClr val="0B5FFF"/>
                </a:solidFill>
                <a:latin typeface="Inter"/>
              </a:rPr>
              <a:t>17</a:t>
            </a:r>
            <a:r>
              <a:rPr sz="1500" b="0">
                <a:solidFill>
                  <a:srgbClr val="0A1628"/>
                </a:solidFill>
                <a:latin typeface="Inter"/>
              </a:rPr>
              <a:t> · sin declaración anual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Novedades 2026 y Sector Primario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Declaración anual eliminada</a:t>
            </a:r>
            <a:r>
              <a:rPr sz="1500" b="0">
                <a:solidFill>
                  <a:srgbClr val="0A1628"/>
                </a:solidFill>
                <a:latin typeface="Inter"/>
              </a:rPr>
              <a:t> · los 12 pagos mensuales son definitivos.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Excepciones que sí declaran: </a:t>
            </a:r>
            <a:r>
              <a:rPr sz="1500" b="1">
                <a:solidFill>
                  <a:srgbClr val="0B5FFF"/>
                </a:solidFill>
                <a:latin typeface="Inter"/>
              </a:rPr>
              <a:t>copropiedad</a:t>
            </a:r>
            <a:r>
              <a:rPr sz="1500" b="0">
                <a:solidFill>
                  <a:srgbClr val="0A1628"/>
                </a:solidFill>
                <a:latin typeface="Inter"/>
              </a:rPr>
              <a:t> de inmuebles · solicitud de </a:t>
            </a:r>
            <a:r>
              <a:rPr sz="1500" b="1">
                <a:solidFill>
                  <a:srgbClr val="0B5FFF"/>
                </a:solidFill>
                <a:latin typeface="Inter"/>
              </a:rPr>
              <a:t>saldos a favor</a:t>
            </a:r>
            <a:r>
              <a:rPr sz="1500" b="0">
                <a:solidFill>
                  <a:srgbClr val="0A1628"/>
                </a:solidFill>
                <a:latin typeface="Inter"/>
              </a:rPr>
              <a:t>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Sector primario</a:t>
            </a:r>
            <a:r>
              <a:rPr sz="1500" b="0">
                <a:solidFill>
                  <a:srgbClr val="0A1628"/>
                </a:solidFill>
                <a:latin typeface="Inter"/>
              </a:rPr>
              <a:t> (agrícola, ganadero, silvícola, pesquero) — exención anual de </a:t>
            </a:r>
            <a:r>
              <a:rPr sz="1500" b="1">
                <a:solidFill>
                  <a:srgbClr val="0B5FFF"/>
                </a:solidFill>
                <a:latin typeface="Inter"/>
              </a:rPr>
              <a:t>$900,000</a:t>
            </a:r>
            <a:r>
              <a:rPr sz="1500" b="0">
                <a:solidFill>
                  <a:srgbClr val="0A1628"/>
                </a:solidFill>
                <a:latin typeface="Inter"/>
              </a:rPr>
              <a:t>. Si se rebasa, se paga RESICO solo sobre el excedente.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Requisito: dedicación </a:t>
            </a:r>
            <a:r>
              <a:rPr sz="1500" b="1">
                <a:solidFill>
                  <a:srgbClr val="0B5FFF"/>
                </a:solidFill>
                <a:latin typeface="Inter"/>
              </a:rPr>
              <a:t>exclusiva</a:t>
            </a:r>
            <a:r>
              <a:rPr sz="1500" b="0">
                <a:solidFill>
                  <a:srgbClr val="0A1628"/>
                </a:solidFill>
                <a:latin typeface="Inter"/>
              </a:rPr>
              <a:t> a la actividad primaria.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RESICO vs 612 — Consultor con $85,000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Mismo ingreso, dos regímenes, enero 2026: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2"/>
                <a:gridCol w="409651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Concepto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Importe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Ingresos del mes cobrados a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$85,000.00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Tasa RESICO (escalón &gt;$83,333)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2.00%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ISR causado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$1,700.00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(−) Retención PM 1.25%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$1,062.50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(=) ISR a enterar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$637.50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3566160"/>
            <a:ext cx="819302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En régimen 612 el mismo ingreso paga ~$17,000 mensuales de ISR efectivo.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B5FFF"/>
                </a:solidFill>
                <a:latin typeface="Inter"/>
              </a:rPr>
              <a:t>Diferencia anual: ~$196,000</a:t>
            </a:r>
            <a:r>
              <a:rPr sz="1300" b="0">
                <a:solidFill>
                  <a:srgbClr val="555249"/>
                </a:solidFill>
                <a:latin typeface="Inter"/>
              </a:rPr>
              <a:t> a favor del RESICO.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554480"/>
            <a:ext cx="81930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BLOQUE 5 — ARRENDAMIENTO DE INMUEBLES (25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Régimen 606 — Arrendamiento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Cap. III, Arts. </a:t>
            </a:r>
            <a:r>
              <a:rPr sz="1500" b="1">
                <a:solidFill>
                  <a:srgbClr val="0B5FFF"/>
                </a:solidFill>
                <a:latin typeface="Inter"/>
              </a:rPr>
              <a:t>114-118 LISR</a:t>
            </a:r>
            <a:r>
              <a:rPr sz="1500" b="0">
                <a:solidFill>
                  <a:srgbClr val="0A1628"/>
                </a:solidFill>
                <a:latin typeface="Inter"/>
              </a:rPr>
              <a:t> · cesión temporal del uso o goce de inmuebles.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Arrendamiento directo (propietario)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Subarrendamiento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Certificados inmobiliarios no amortizables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Flujo de efectivo: si el inquilino no paga en diciembre, </a:t>
            </a:r>
            <a:r>
              <a:rPr sz="1500" b="1">
                <a:solidFill>
                  <a:srgbClr val="0B5FFF"/>
                </a:solidFill>
                <a:latin typeface="Inter"/>
              </a:rPr>
              <a:t>no se acumula</a:t>
            </a:r>
            <a:r>
              <a:rPr sz="1500" b="0">
                <a:solidFill>
                  <a:srgbClr val="0A1628"/>
                </a:solidFill>
                <a:latin typeface="Inter"/>
              </a:rPr>
              <a:t> ese mes.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Comprobadas vs Ciega — Art. 115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El arrendador </a:t>
            </a:r>
            <a:r>
              <a:rPr sz="1500" b="1">
                <a:solidFill>
                  <a:srgbClr val="0B5FFF"/>
                </a:solidFill>
                <a:latin typeface="Inter"/>
              </a:rPr>
              <a:t>escoge</a:t>
            </a:r>
            <a:r>
              <a:rPr sz="1500" b="0">
                <a:solidFill>
                  <a:srgbClr val="0A1628"/>
                </a:solidFill>
                <a:latin typeface="Inter"/>
              </a:rPr>
              <a:t> al inicio del ejercicio.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Comprobadas</a:t>
            </a:r>
            <a:r>
              <a:rPr sz="1500" b="0">
                <a:solidFill>
                  <a:srgbClr val="0A1628"/>
                </a:solidFill>
                <a:latin typeface="Inter"/>
              </a:rPr>
              <a:t>: predial, mantenimiento, seguros, intereses reales, depreciación 5% anual.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Ciega</a:t>
            </a:r>
            <a:r>
              <a:rPr sz="1500" b="0">
                <a:solidFill>
                  <a:srgbClr val="0A1628"/>
                </a:solidFill>
                <a:latin typeface="Inter"/>
              </a:rPr>
              <a:t>: </a:t>
            </a:r>
            <a:r>
              <a:rPr sz="1500" b="1">
                <a:solidFill>
                  <a:srgbClr val="0B5FFF"/>
                </a:solidFill>
                <a:latin typeface="Inter"/>
              </a:rPr>
              <a:t>35%</a:t>
            </a:r>
            <a:r>
              <a:rPr sz="1500" b="0">
                <a:solidFill>
                  <a:srgbClr val="0A1628"/>
                </a:solidFill>
                <a:latin typeface="Inter"/>
              </a:rPr>
              <a:t> de ingresos sin comprobantes + predial aparte.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Si los gastos reales &lt; 35% de la renta → gana la </a:t>
            </a:r>
            <a:r>
              <a:rPr sz="1500" b="1">
                <a:solidFill>
                  <a:srgbClr val="0B5FFF"/>
                </a:solidFill>
                <a:latin typeface="Inter"/>
              </a:rPr>
              <a:t>ciega</a:t>
            </a:r>
            <a:r>
              <a:rPr sz="1500" b="0">
                <a:solidFill>
                  <a:srgbClr val="0A1628"/>
                </a:solidFill>
                <a:latin typeface="Inter"/>
              </a:rPr>
              <a:t>. Caso común: casa habitación sin hipoteca.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Retenciones e IVA en Arrendamiento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Rentas </a:t>
            </a:r>
            <a:r>
              <a:rPr sz="1500" b="1">
                <a:solidFill>
                  <a:srgbClr val="0B5FFF"/>
                </a:solidFill>
                <a:latin typeface="Inter"/>
              </a:rPr>
              <a:t>&gt; 10 UMA</a:t>
            </a:r>
            <a:r>
              <a:rPr sz="1500" b="0">
                <a:solidFill>
                  <a:srgbClr val="0A1628"/>
                </a:solidFill>
                <a:latin typeface="Inter"/>
              </a:rPr>
              <a:t> mensuales ($34,394) → pago mensual. Por debajo → opción trimestral.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Inquilino persona moral retiene: </a:t>
            </a:r>
            <a:r>
              <a:rPr sz="1500" b="1">
                <a:solidFill>
                  <a:srgbClr val="0B5FFF"/>
                </a:solidFill>
                <a:latin typeface="Inter"/>
              </a:rPr>
              <a:t>10%</a:t>
            </a:r>
            <a:r>
              <a:rPr sz="1500" b="0">
                <a:solidFill>
                  <a:srgbClr val="0A1628"/>
                </a:solidFill>
                <a:latin typeface="Inter"/>
              </a:rPr>
              <a:t> ISR + </a:t>
            </a:r>
            <a:r>
              <a:rPr sz="1500" b="1">
                <a:solidFill>
                  <a:srgbClr val="0B5FFF"/>
                </a:solidFill>
                <a:latin typeface="Inter"/>
              </a:rPr>
              <a:t>2/3 partes</a:t>
            </a:r>
            <a:r>
              <a:rPr sz="1500" b="0">
                <a:solidFill>
                  <a:srgbClr val="0A1628"/>
                </a:solidFill>
                <a:latin typeface="Inter"/>
              </a:rPr>
              <a:t> IVA.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Tratamiento IVA por destino del inmueble: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Casa habitación · fincas agrícolas → </a:t>
            </a:r>
            <a:r>
              <a:rPr sz="1500" b="1">
                <a:solidFill>
                  <a:srgbClr val="0B5FFF"/>
                </a:solidFill>
                <a:latin typeface="Inter"/>
              </a:rPr>
              <a:t>Exento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Comercio · oficinas · hotel · bodegas → </a:t>
            </a:r>
            <a:r>
              <a:rPr sz="1500" b="1">
                <a:solidFill>
                  <a:srgbClr val="0B5FFF"/>
                </a:solidFill>
                <a:latin typeface="Inter"/>
              </a:rPr>
              <a:t>16% gravado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Local Comercial $15,000 — 606 vs RESICO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Inquilino PM retiene al arrendador.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008"/>
                <a:gridCol w="2731008"/>
                <a:gridCol w="273100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Concepto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606 ciega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RESICO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Renta mensual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Base / tasa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$9,450 / 21.36%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$15,000 × 1%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ISR causado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(−) Retención PM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$1,500 (10%)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$188 (1.25%)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Resultado mensual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Saldo a favor $996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Saldo a favor $38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3566160"/>
            <a:ext cx="819302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Misma renta, menos burocracia: </a:t>
            </a:r>
            <a:r>
              <a:rPr sz="1300" b="1">
                <a:solidFill>
                  <a:srgbClr val="0B5FFF"/>
                </a:solidFill>
                <a:latin typeface="Inter"/>
              </a:rPr>
              <a:t>RESICO</a:t>
            </a:r>
            <a:r>
              <a:rPr sz="1300" b="0">
                <a:solidFill>
                  <a:srgbClr val="555249"/>
                </a:solidFill>
                <a:latin typeface="Inter"/>
              </a:rPr>
              <a:t> es dominante hasta $3.5 MDP.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554480"/>
            <a:ext cx="81930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BLOQUE 6 — RÉGIMEN DE INCORPORACIÓN FISCAL (RIF) (15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RIF — Régimen en Extinción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Derogado el </a:t>
            </a:r>
            <a:r>
              <a:rPr sz="1500" b="1">
                <a:solidFill>
                  <a:srgbClr val="0B5FFF"/>
                </a:solidFill>
                <a:latin typeface="Inter"/>
              </a:rPr>
              <a:t>12-nov-2021</a:t>
            </a:r>
            <a:r>
              <a:rPr sz="1500" b="0">
                <a:solidFill>
                  <a:srgbClr val="0A1628"/>
                </a:solidFill>
                <a:latin typeface="Inter"/>
              </a:rPr>
              <a:t> · solo sobreviven inscritos antes del 1-sep-2021 hasta completar sus </a:t>
            </a:r>
            <a:r>
              <a:rPr sz="1500" b="1">
                <a:solidFill>
                  <a:srgbClr val="0B5FFF"/>
                </a:solidFill>
                <a:latin typeface="Inter"/>
              </a:rPr>
              <a:t>10 ejercicios</a:t>
            </a:r>
            <a:r>
              <a:rPr sz="1500" b="0">
                <a:solidFill>
                  <a:srgbClr val="0A1628"/>
                </a:solidFill>
                <a:latin typeface="Inter"/>
              </a:rPr>
              <a:t>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Ningún contribuyente nuevo desde 2022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Los activos pueden migrar a RESICO cuando quieran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Inscritos en 2014 ya terminaron (dic-2023)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Si un cliente sigue facturando como RIF después de su plazo → está </a:t>
            </a:r>
            <a:r>
              <a:rPr sz="1500" b="1">
                <a:solidFill>
                  <a:srgbClr val="0B5FFF"/>
                </a:solidFill>
                <a:latin typeface="Inter"/>
              </a:rPr>
              <a:t>fuera de régimen</a:t>
            </a:r>
            <a:r>
              <a:rPr sz="1500" b="0">
                <a:solidFill>
                  <a:srgbClr val="0A1628"/>
                </a:solidFill>
                <a:latin typeface="Inter"/>
              </a:rPr>
              <a:t> y acumulando contingencias.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554480"/>
            <a:ext cx="81930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BLOQUE 7 — PLATAFORMAS DIGITALES (25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Régimen 625 — Plataformas Digitales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Arts. </a:t>
            </a:r>
            <a:r>
              <a:rPr sz="1500" b="1">
                <a:solidFill>
                  <a:srgbClr val="0B5FFF"/>
                </a:solidFill>
                <a:latin typeface="Inter"/>
              </a:rPr>
              <a:t>113-A a 113-D LISR</a:t>
            </a:r>
            <a:r>
              <a:rPr sz="1500" b="0">
                <a:solidFill>
                  <a:srgbClr val="0A1628"/>
                </a:solidFill>
                <a:latin typeface="Inter"/>
              </a:rPr>
              <a:t> · desde 1-jun-2020.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La </a:t>
            </a:r>
            <a:r>
              <a:rPr sz="1500" b="1">
                <a:solidFill>
                  <a:srgbClr val="0B5FFF"/>
                </a:solidFill>
                <a:latin typeface="Inter"/>
              </a:rPr>
              <a:t>plataforma</a:t>
            </a:r>
            <a:r>
              <a:rPr sz="1500" b="0">
                <a:solidFill>
                  <a:srgbClr val="0A1628"/>
                </a:solidFill>
                <a:latin typeface="Inter"/>
              </a:rPr>
              <a:t> retiene y entera al SAT — es el brazo fiscal del régimen.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Uber, DiDi, Cabify</a:t>
            </a:r>
            <a:r>
              <a:rPr sz="1500" b="0">
                <a:solidFill>
                  <a:srgbClr val="0A1628"/>
                </a:solidFill>
                <a:latin typeface="Inter"/>
              </a:rPr>
              <a:t> → transporte de pasajeros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Rappi, Uber Eats</a:t>
            </a:r>
            <a:r>
              <a:rPr sz="1500" b="0">
                <a:solidFill>
                  <a:srgbClr val="0A1628"/>
                </a:solidFill>
                <a:latin typeface="Inter"/>
              </a:rPr>
              <a:t> → entrega de bienes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Amazon, Mercado Libre</a:t>
            </a:r>
            <a:r>
              <a:rPr sz="1500" b="0">
                <a:solidFill>
                  <a:srgbClr val="0A1628"/>
                </a:solidFill>
                <a:latin typeface="Inter"/>
              </a:rPr>
              <a:t> → enajenación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</a:t>
            </a:r>
            <a:r>
              <a:rPr sz="1500" b="1">
                <a:solidFill>
                  <a:srgbClr val="0B5FFF"/>
                </a:solidFill>
                <a:latin typeface="Inter"/>
              </a:rPr>
              <a:t>Airbnb, Booking</a:t>
            </a:r>
            <a:r>
              <a:rPr sz="1500" b="0">
                <a:solidFill>
                  <a:srgbClr val="0A1628"/>
                </a:solidFill>
                <a:latin typeface="Inter"/>
              </a:rPr>
              <a:t> → hospedaje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Pago Definitivo vs Provisional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Dos opciones — elegir bien define la vida fiscal del cliente.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008"/>
                <a:gridCol w="2731008"/>
                <a:gridCol w="273100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Aspecto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Definitivo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Provisional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Ingresos anuales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≤ $300,000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&gt; $300,000 o mixtos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Declaraciones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Ninguna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Mensual + anual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Deducciones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Acreditamiento IVA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SÍ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3255264"/>
            <a:ext cx="8193024" cy="147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0B5FFF"/>
                </a:solidFill>
                <a:latin typeface="Inter"/>
              </a:rPr>
              <a:t>Conductor de fin de semana</a:t>
            </a:r>
            <a:r>
              <a:rPr sz="1300" b="0">
                <a:solidFill>
                  <a:srgbClr val="555249"/>
                </a:solidFill>
                <a:latin typeface="Inter"/>
              </a:rPr>
              <a:t> → Definitivo · </a:t>
            </a:r>
            <a:r>
              <a:rPr sz="1300" b="1">
                <a:solidFill>
                  <a:srgbClr val="0B5FFF"/>
                </a:solidFill>
                <a:latin typeface="Inter"/>
              </a:rPr>
              <a:t>Conductor de tiempo completo</a:t>
            </a:r>
            <a:r>
              <a:rPr sz="1300" b="0">
                <a:solidFill>
                  <a:srgbClr val="555249"/>
                </a:solidFill>
                <a:latin typeface="Inter"/>
              </a:rPr>
              <a:t> → Provisional.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Tasas 2026 en Plataformas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097280"/>
          <a:ext cx="819302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008"/>
                <a:gridCol w="2731008"/>
                <a:gridCol w="273100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Actividad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2025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2026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Transporte de pasajeros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Entrega de bienes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2.1%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2.1%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Hospedaje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Enajenación de bienes y servicios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1.0%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2.5% ↑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" y="2743200"/>
            <a:ext cx="8193024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Sin RFC proporcionado a la plataforma → retención ISR </a:t>
            </a:r>
            <a:r>
              <a:rPr sz="1300" b="1">
                <a:solidFill>
                  <a:srgbClr val="0B5FFF"/>
                </a:solidFill>
                <a:latin typeface="Inter"/>
              </a:rPr>
              <a:t>20%</a:t>
            </a:r>
            <a:r>
              <a:rPr sz="1300" b="0">
                <a:solidFill>
                  <a:srgbClr val="555249"/>
                </a:solidFill>
                <a:latin typeface="Inter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IVA retenido: </a:t>
            </a:r>
            <a:r>
              <a:rPr sz="1300" b="1">
                <a:solidFill>
                  <a:srgbClr val="0B5FFF"/>
                </a:solidFill>
                <a:latin typeface="Inter"/>
              </a:rPr>
              <a:t>8%</a:t>
            </a:r>
            <a:r>
              <a:rPr sz="1300" b="0">
                <a:solidFill>
                  <a:srgbClr val="555249"/>
                </a:solidFill>
                <a:latin typeface="Inter"/>
              </a:rPr>
              <a:t> con RFC · </a:t>
            </a:r>
            <a:r>
              <a:rPr sz="1300" b="1">
                <a:solidFill>
                  <a:srgbClr val="0B5FFF"/>
                </a:solidFill>
                <a:latin typeface="Inter"/>
              </a:rPr>
              <a:t>16%</a:t>
            </a:r>
            <a:r>
              <a:rPr sz="1300" b="0">
                <a:solidFill>
                  <a:srgbClr val="555249"/>
                </a:solidFill>
                <a:latin typeface="Inter"/>
              </a:rPr>
              <a:t> sin RFC.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Ejemplo — Conductor Uber, Enero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0A1628"/>
                </a:solidFill>
                <a:latin typeface="Inter"/>
              </a:rPr>
              <a:t>Opción definitiva · sin otros ingresos.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609344"/>
          <a:ext cx="8193024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2"/>
                <a:gridCol w="409651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Concepto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Importe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Ingresos plataforma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$18,000.00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Retención Uber (2.1%)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$378.00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Propinas directas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ISR propinas (2.1%)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$42.00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Total ISR del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$420.00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3566160"/>
            <a:ext cx="819302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Propinas en efectivo </a:t>
            </a:r>
            <a:r>
              <a:rPr sz="1300" b="1">
                <a:solidFill>
                  <a:srgbClr val="0B5FFF"/>
                </a:solidFill>
                <a:latin typeface="Inter"/>
              </a:rPr>
              <a:t>sí son ingreso gravado</a:t>
            </a:r>
            <a:r>
              <a:rPr sz="1300" b="0">
                <a:solidFill>
                  <a:srgbClr val="555249"/>
                </a:solidFill>
                <a:latin typeface="Inter"/>
              </a:rPr>
              <a:t> — requieren CFDI propio.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Brújula — Los 7 Regímenes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097280"/>
          <a:ext cx="81930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604"/>
                <a:gridCol w="1638604"/>
                <a:gridCol w="1638604"/>
                <a:gridCol w="1638604"/>
                <a:gridCol w="1638604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Régimen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Clave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Límite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Tasa ISR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Deducciones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Sueldos y salarios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Sin límite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1.92% – 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Personales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Actividad empresarial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612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Sin límite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1.92% – 35%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Autorizadas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RESICO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$3.5 MDP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5FFF"/>
                          </a:solidFill>
                          <a:latin typeface="Inter"/>
                        </a:rPr>
                        <a:t>1% – 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Arrendamiento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606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Sin límite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1.92% – 35%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35% ciega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RIF (extinción)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$2 MDP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Decreciente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Limitadas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Plataformas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625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$300K def.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1% – 4%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A1628"/>
                          </a:solidFill>
                          <a:latin typeface="Inter"/>
                        </a:rPr>
                        <a:t>Según opción</a:t>
                      </a:r>
                    </a:p>
                  </a:txBody>
                  <a:tcPr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" y="3364992"/>
            <a:ext cx="8193024" cy="136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555249"/>
                </a:solidFill>
                <a:latin typeface="Inter"/>
              </a:rPr>
              <a:t>5 filtros: </a:t>
            </a:r>
            <a:r>
              <a:rPr sz="1300" b="1">
                <a:solidFill>
                  <a:srgbClr val="0B5FFF"/>
                </a:solidFill>
                <a:latin typeface="Inter"/>
              </a:rPr>
              <a:t>actividad → ingresos → gastos → socio de PM → plataforma</a:t>
            </a:r>
            <a:r>
              <a:rPr sz="1300" b="0">
                <a:solidFill>
                  <a:srgbClr val="55524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Ejercicios en Equipos — 15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1. </a:t>
            </a:r>
            <a:r>
              <a:rPr sz="1500" b="1">
                <a:solidFill>
                  <a:srgbClr val="0B5FFF"/>
                </a:solidFill>
                <a:latin typeface="Inter"/>
              </a:rPr>
              <a:t>Médico socio de PM</a:t>
            </a:r>
            <a:r>
              <a:rPr sz="1500" b="0">
                <a:solidFill>
                  <a:srgbClr val="0A1628"/>
                </a:solidFill>
                <a:latin typeface="Inter"/>
              </a:rPr>
              <a:t> · factura $200K por su consultorio + 10% en S.A. de bienes raíces. ¿RESICO?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2. </a:t>
            </a:r>
            <a:r>
              <a:rPr sz="1500" b="1">
                <a:solidFill>
                  <a:srgbClr val="0B5FFF"/>
                </a:solidFill>
                <a:latin typeface="Inter"/>
              </a:rPr>
              <a:t>Conductor Uber</a:t>
            </a:r>
            <a:r>
              <a:rPr sz="1500" b="0">
                <a:solidFill>
                  <a:srgbClr val="0A1628"/>
                </a:solidFill>
                <a:latin typeface="Inter"/>
              </a:rPr>
              <a:t> · proyecta $420K con $180K de gastos. ¿Definitivo o provisional?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3. </a:t>
            </a:r>
            <a:r>
              <a:rPr sz="1500" b="1">
                <a:solidFill>
                  <a:srgbClr val="0B5FFF"/>
                </a:solidFill>
                <a:latin typeface="Inter"/>
              </a:rPr>
              <a:t>Arrendador mixto</a:t>
            </a:r>
            <a:r>
              <a:rPr sz="1500" b="0">
                <a:solidFill>
                  <a:srgbClr val="0A1628"/>
                </a:solidFill>
                <a:latin typeface="Inter"/>
              </a:rPr>
              <a:t> · 2 casas habitación + 1 local comercial ($34K/mes). ¿606 o RESICO? ¿IVA?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4. </a:t>
            </a:r>
            <a:r>
              <a:rPr sz="1500" b="1">
                <a:solidFill>
                  <a:srgbClr val="0B5FFF"/>
                </a:solidFill>
                <a:latin typeface="Inter"/>
              </a:rPr>
              <a:t>Asalariado con honorarios de consejero</a:t>
            </a:r>
            <a:r>
              <a:rPr sz="1500" b="0">
                <a:solidFill>
                  <a:srgbClr val="0A1628"/>
                </a:solidFill>
                <a:latin typeface="Inter"/>
              </a:rPr>
              <a:t> · $25K sueldo + $8K consejero. ¿Cómo se clasifica? ¿Declara?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92608"/>
            <a:ext cx="64008" cy="59436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5603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A1628"/>
                </a:solidFill>
                <a:latin typeface="Inter"/>
              </a:rPr>
              <a:t>Gracias · Próxima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987552"/>
            <a:ext cx="8193024" cy="22860"/>
          </a:xfrm>
          <a:prstGeom prst="rect">
            <a:avLst/>
          </a:prstGeom>
          <a:solidFill>
            <a:srgbClr val="D4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960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249"/>
                </a:solidFill>
                <a:latin typeface="Inter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8193024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Clase 2 · Módulo 4</a:t>
            </a:r>
            <a:r>
              <a:rPr sz="1500" b="0">
                <a:solidFill>
                  <a:srgbClr val="0A1628"/>
                </a:solidFill>
                <a:latin typeface="Inter"/>
              </a:rPr>
              <a:t> — Aspectos Prácticos: Deducciones, CFDI y Herramientas SAT.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Tarea para estas dos semanas: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Revisar el régimen de </a:t>
            </a:r>
            <a:r>
              <a:rPr sz="1500" b="1">
                <a:solidFill>
                  <a:srgbClr val="0B5FFF"/>
                </a:solidFill>
                <a:latin typeface="Inter"/>
              </a:rPr>
              <a:t>3 clientes</a:t>
            </a:r>
            <a:r>
              <a:rPr sz="1500" b="0">
                <a:solidFill>
                  <a:srgbClr val="0A1628"/>
                </a:solidFill>
                <a:latin typeface="Inter"/>
              </a:rPr>
              <a:t> y validar si es el óptimo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Recalcular uno de ellos con tasas RESICO para medir la brecha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0A1628"/>
                </a:solidFill>
                <a:latin typeface="Inter"/>
              </a:rPr>
              <a:t>• Traer dudas puntuales a la siguiente sesión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00"/>
              </a:spcBef>
            </a:pPr>
            <a:r>
              <a:rPr sz="1500" b="1">
                <a:solidFill>
                  <a:srgbClr val="0B5FFF"/>
                </a:solidFill>
                <a:latin typeface="Inter"/>
              </a:rPr>
              <a:t>LCP Israel Castro</a:t>
            </a:r>
            <a:r>
              <a:rPr sz="1500" b="0">
                <a:solidFill>
                  <a:srgbClr val="0A1628"/>
                </a:solidFill>
                <a:latin typeface="Inter"/>
              </a:rPr>
              <a:t> — israel@todoconta.com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